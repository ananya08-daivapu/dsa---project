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hyarani konkala" userId="7e0652bfe62fb206" providerId="LiveId" clId="{FEF73BC3-7371-40F4-B7B2-D47696035C13}"/>
    <pc:docChg chg="modSld sldOrd">
      <pc:chgData name="sandhyarani konkala" userId="7e0652bfe62fb206" providerId="LiveId" clId="{FEF73BC3-7371-40F4-B7B2-D47696035C13}" dt="2026-03-12T04:02:14.839" v="2" actId="20577"/>
      <pc:docMkLst>
        <pc:docMk/>
      </pc:docMkLst>
      <pc:sldChg chg="modSp mod">
        <pc:chgData name="sandhyarani konkala" userId="7e0652bfe62fb206" providerId="LiveId" clId="{FEF73BC3-7371-40F4-B7B2-D47696035C13}" dt="2026-03-12T04:02:14.839" v="2" actId="20577"/>
        <pc:sldMkLst>
          <pc:docMk/>
          <pc:sldMk cId="930833320" sldId="266"/>
        </pc:sldMkLst>
        <pc:spChg chg="mod">
          <ac:chgData name="sandhyarani konkala" userId="7e0652bfe62fb206" providerId="LiveId" clId="{FEF73BC3-7371-40F4-B7B2-D47696035C13}" dt="2026-03-12T04:02:14.839" v="2" actId="20577"/>
          <ac:spMkLst>
            <pc:docMk/>
            <pc:sldMk cId="930833320" sldId="266"/>
            <ac:spMk id="9" creationId="{0BAA4F36-AB00-F2C4-B47F-6381355DE604}"/>
          </ac:spMkLst>
        </pc:spChg>
      </pc:sldChg>
      <pc:sldChg chg="ord">
        <pc:chgData name="sandhyarani konkala" userId="7e0652bfe62fb206" providerId="LiveId" clId="{FEF73BC3-7371-40F4-B7B2-D47696035C13}" dt="2026-03-12T04:02:10.988" v="1"/>
        <pc:sldMkLst>
          <pc:docMk/>
          <pc:sldMk cId="2715783799" sldId="323"/>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 Fake News Detection Using Pattern Matching</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D. Ananya </a:t>
            </a:r>
          </a:p>
          <a:p>
            <a:pPr marL="0" indent="0" algn="ctr">
              <a:buNone/>
            </a:pPr>
            <a:r>
              <a:rPr lang="en-US" sz="9600" dirty="0"/>
              <a:t>Student ID:  2520090011</a:t>
            </a:r>
            <a:endParaRPr lang="en-US" sz="2400" dirty="0"/>
          </a:p>
          <a:p>
            <a:pPr marL="0" indent="0" algn="ctr">
              <a:buNone/>
            </a:pPr>
            <a:r>
              <a:rPr lang="en-US" sz="11200" dirty="0"/>
              <a:t>Cluster: 4</a:t>
            </a:r>
          </a:p>
          <a:p>
            <a:pPr marL="0" indent="0" algn="ctr">
              <a:buNone/>
            </a:pPr>
            <a:r>
              <a:rPr lang="en-US" sz="11200" dirty="0"/>
              <a:t>Section: 15</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Mrs. Surekha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a:t>
            </a:r>
            <a:r>
              <a:rPr lang="en-US" sz="8600">
                <a:solidFill>
                  <a:srgbClr val="00B050"/>
                </a:solidFill>
              </a:rPr>
              <a:t>of CSIT</a:t>
            </a:r>
            <a:endParaRPr lang="en-US" sz="8600" dirty="0">
              <a:solidFill>
                <a:srgbClr val="00B050"/>
              </a:solidFill>
            </a:endParaRP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59838" y="136525"/>
            <a:ext cx="10173182" cy="759425"/>
          </a:xfrm>
        </p:spPr>
        <p:txBody>
          <a:bodyPr/>
          <a:lstStyle/>
          <a:p>
            <a:pPr algn="ctr"/>
            <a:r>
              <a:rPr lang="en-US" b="1" dirty="0"/>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3" name="Rectangle 5">
            <a:extLst>
              <a:ext uri="{FF2B5EF4-FFF2-40B4-BE49-F238E27FC236}">
                <a16:creationId xmlns:a16="http://schemas.microsoft.com/office/drawing/2014/main" id="{8CDB8742-DC24-EBEC-25F7-5BA7A50C3930}"/>
              </a:ext>
            </a:extLst>
          </p:cNvPr>
          <p:cNvSpPr>
            <a:spLocks noGrp="1" noChangeArrowheads="1"/>
          </p:cNvSpPr>
          <p:nvPr>
            <p:ph idx="1"/>
          </p:nvPr>
        </p:nvSpPr>
        <p:spPr bwMode="auto">
          <a:xfrm>
            <a:off x="559838" y="895950"/>
            <a:ext cx="113277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Roman"/>
              </a:rPr>
              <a:t>Fake News Detection Using Pattern Matching</a:t>
            </a:r>
            <a:r>
              <a:rPr kumimoji="0" lang="en-US" altLang="en-US" sz="2000" i="0" u="none" strike="noStrike" cap="none" normalizeH="0" baseline="0" dirty="0">
                <a:ln>
                  <a:noFill/>
                </a:ln>
                <a:solidFill>
                  <a:schemeClr val="tx1"/>
                </a:solidFill>
                <a:effectLst/>
                <a:latin typeface="Roman"/>
              </a:rPr>
              <a:t>  </a:t>
            </a:r>
            <a:r>
              <a:rPr kumimoji="0" lang="en-US" altLang="en-US" sz="2000" b="0" i="0" u="none" strike="noStrike" cap="none" normalizeH="0" baseline="0" dirty="0">
                <a:ln>
                  <a:noFill/>
                </a:ln>
                <a:solidFill>
                  <a:schemeClr val="tx1"/>
                </a:solidFill>
                <a:effectLst/>
                <a:latin typeface="Roman"/>
              </a:rPr>
              <a:t>is a web application developed using </a:t>
            </a:r>
            <a:r>
              <a:rPr kumimoji="0" lang="en-US" altLang="en-US" sz="2000" i="0" u="none" strike="noStrike" cap="none" normalizeH="0" baseline="0" dirty="0">
                <a:ln>
                  <a:noFill/>
                </a:ln>
                <a:solidFill>
                  <a:schemeClr val="tx1"/>
                </a:solidFill>
                <a:effectLst/>
                <a:latin typeface="Roman"/>
              </a:rPr>
              <a:t>HTML, CSS, and JavaScript.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helps users i</a:t>
            </a:r>
            <a:r>
              <a:rPr lang="en-US" altLang="en-US" sz="2000" dirty="0">
                <a:latin typeface="Roman"/>
              </a:rPr>
              <a:t>dentify whether a news article is fake or real</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system </a:t>
            </a:r>
            <a:r>
              <a:rPr lang="en-US" altLang="en-US" sz="2000" b="0" dirty="0">
                <a:latin typeface="Roman"/>
              </a:rPr>
              <a:t>analyzes </a:t>
            </a:r>
            <a:r>
              <a:rPr kumimoji="0" lang="en-US" altLang="en-US" sz="2000" i="0" u="none" strike="noStrike" cap="none" normalizeH="0" baseline="0" dirty="0">
                <a:ln>
                  <a:noFill/>
                </a:ln>
                <a:solidFill>
                  <a:schemeClr val="tx1"/>
                </a:solidFill>
                <a:effectLst/>
                <a:latin typeface="Roman"/>
              </a:rPr>
              <a:t> the </a:t>
            </a:r>
            <a:r>
              <a:rPr lang="en-US" altLang="en-US" sz="2000" dirty="0">
                <a:latin typeface="Roman"/>
              </a:rPr>
              <a:t>news text and checks for </a:t>
            </a:r>
            <a:r>
              <a:rPr lang="en-US" altLang="en-US" sz="2000" dirty="0" err="1">
                <a:latin typeface="Roman"/>
              </a:rPr>
              <a:t>susupicious</a:t>
            </a:r>
            <a:r>
              <a:rPr lang="en-US" altLang="en-US" sz="2000" dirty="0">
                <a:latin typeface="Roman"/>
              </a:rPr>
              <a:t> keywords and patterns commonly found in fake news</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a:t>
            </a:r>
            <a:r>
              <a:rPr lang="en-US" altLang="en-US" sz="2000" dirty="0">
                <a:latin typeface="Roman"/>
              </a:rPr>
              <a:t>uses pattern matching techniques to compare their input news with predefined fake news patterns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Roman"/>
              </a:rPr>
              <a:t>The system can be useful for students, researchers, journalists and social media users</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project helps </a:t>
            </a:r>
            <a:r>
              <a:rPr lang="en-US" altLang="en-US" sz="2000" dirty="0">
                <a:latin typeface="Roman"/>
              </a:rPr>
              <a:t>reduce the spread of misinformation on the internet</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sz="2000" dirty="0"/>
              <a:t>In the existing system, people usually verify news manually by checking different websites, news channels, or social media platforms. They compare the information from multiple sources to decide whether the news is real or fake. </a:t>
            </a:r>
            <a:r>
              <a:rPr lang="en-US" sz="2000" dirty="0">
                <a:latin typeface="Roman"/>
              </a:rPr>
              <a:t>Problems in existing system:</a:t>
            </a:r>
          </a:p>
          <a:p>
            <a:r>
              <a:rPr lang="en-US" sz="2000" dirty="0">
                <a:latin typeface="Roman"/>
              </a:rPr>
              <a:t>Time-consuming process</a:t>
            </a:r>
          </a:p>
          <a:p>
            <a:r>
              <a:rPr lang="en-US" sz="2000" dirty="0">
                <a:latin typeface="Roman"/>
              </a:rPr>
              <a:t>Difficult to verify news quickly</a:t>
            </a:r>
          </a:p>
          <a:p>
            <a:r>
              <a:rPr lang="en-US" sz="2000" dirty="0">
                <a:latin typeface="Roman"/>
              </a:rPr>
              <a:t>High chance of spreading misinformation</a:t>
            </a:r>
          </a:p>
          <a:p>
            <a:r>
              <a:rPr lang="en-US" sz="2000" dirty="0">
                <a:latin typeface="Roman"/>
              </a:rPr>
              <a:t>No automatic detection system.</a:t>
            </a:r>
          </a:p>
          <a:p>
            <a:r>
              <a:rPr lang="en-US" sz="2000" dirty="0">
                <a:latin typeface="Roman"/>
              </a:rPr>
              <a:t>Requires checking multiple scores manually</a:t>
            </a:r>
          </a:p>
          <a:p>
            <a:r>
              <a:rPr lang="en-US" sz="2000" dirty="0">
                <a:latin typeface="Roman"/>
              </a:rPr>
              <a:t>Difficult to analyze large amounts of news content</a:t>
            </a:r>
          </a:p>
          <a:p>
            <a:endParaRPr lang="en-US" sz="2000" dirty="0">
              <a:latin typeface="Roman"/>
            </a:endParaRP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pPr marL="0" indent="0">
              <a:buNone/>
            </a:pPr>
            <a:r>
              <a:rPr lang="en-US" sz="2000" dirty="0">
                <a:latin typeface="Roman"/>
              </a:rPr>
              <a:t>The proposed system provides an automated web-based solution for detecting fake news using pattern matching techniques.</a:t>
            </a:r>
          </a:p>
          <a:p>
            <a:r>
              <a:rPr lang="en-US" sz="2000" b="1" dirty="0">
                <a:latin typeface="Roman"/>
              </a:rPr>
              <a:t>Features</a:t>
            </a:r>
            <a:r>
              <a:rPr lang="en-US" sz="2000" dirty="0">
                <a:latin typeface="Roman"/>
              </a:rPr>
              <a:t>:</a:t>
            </a:r>
          </a:p>
          <a:p>
            <a:r>
              <a:rPr lang="en-US" sz="2000" dirty="0">
                <a:latin typeface="Roman"/>
              </a:rPr>
              <a:t>User interface to enter or paste news text for verification </a:t>
            </a:r>
          </a:p>
          <a:p>
            <a:r>
              <a:rPr lang="en-US" sz="2000" dirty="0">
                <a:latin typeface="Roman"/>
              </a:rPr>
              <a:t>Pattern matching algorithm to analyze suspicious keywords and phrases</a:t>
            </a:r>
          </a:p>
          <a:p>
            <a:r>
              <a:rPr lang="en-US" sz="2000" dirty="0">
                <a:latin typeface="Roman"/>
              </a:rPr>
              <a:t>Automatic detection of fake or genuine news based on predefined patterns</a:t>
            </a:r>
          </a:p>
          <a:p>
            <a:r>
              <a:rPr lang="en-US" sz="2000" dirty="0">
                <a:latin typeface="Roman"/>
              </a:rPr>
              <a:t>Quick result display showing whether the news is fake or real</a:t>
            </a:r>
          </a:p>
          <a:p>
            <a:r>
              <a:rPr lang="en-US" sz="2000" dirty="0">
                <a:latin typeface="Roman"/>
              </a:rPr>
              <a:t>Helps users verify information before sharing it online</a:t>
            </a:r>
          </a:p>
          <a:p>
            <a:r>
              <a:rPr lang="en-US" sz="2000" dirty="0">
                <a:latin typeface="Roman"/>
              </a:rPr>
              <a:t>Reduces the spread pf misinformation on digital platforms</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279918" y="365125"/>
            <a:ext cx="110738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427584"/>
            <a:ext cx="10515600" cy="5159828"/>
          </a:xfrm>
        </p:spPr>
        <p:txBody>
          <a:bodyPr>
            <a:noAutofit/>
          </a:bodyPr>
          <a:lstStyle/>
          <a:p>
            <a:pPr marL="0" lvl="0" indent="0" eaLnBrk="0" fontAlgn="base" hangingPunct="0">
              <a:lnSpc>
                <a:spcPct val="100000"/>
              </a:lnSpc>
              <a:spcBef>
                <a:spcPct val="0"/>
              </a:spcBef>
              <a:spcAft>
                <a:spcPct val="0"/>
              </a:spcAft>
              <a:buNone/>
            </a:pPr>
            <a:r>
              <a:rPr lang="en-US" sz="1200" dirty="0">
                <a:latin typeface="Roman"/>
              </a:rPr>
              <a:t>                                        </a:t>
            </a:r>
            <a:endParaRPr lang="en-US" altLang="en-US" sz="900" b="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 </a:t>
            </a:r>
            <a:r>
              <a:rPr lang="en-US" altLang="en-US" sz="2000" dirty="0">
                <a:latin typeface="Roman"/>
              </a:rPr>
              <a:t>Built using HTML and CSS for the user interface, including the news input page and result display page.</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Client Logic</a:t>
            </a:r>
            <a:r>
              <a:rPr lang="en-US" altLang="en-US" sz="2000" dirty="0">
                <a:latin typeface="Roman"/>
              </a:rPr>
              <a:t>: JavaScript processes the news text entered by the user and performs pattern matching analysis.</a:t>
            </a:r>
          </a:p>
          <a:p>
            <a:pPr marL="0" lvl="0" indent="0" eaLnBrk="0" fontAlgn="base" hangingPunct="0">
              <a:lnSpc>
                <a:spcPct val="100000"/>
              </a:lnSpc>
              <a:spcBef>
                <a:spcPct val="0"/>
              </a:spcBef>
              <a:spcAft>
                <a:spcPct val="0"/>
              </a:spcAft>
              <a:buFontTx/>
              <a:buChar char="•"/>
            </a:pPr>
            <a:r>
              <a:rPr lang="en-US" altLang="en-US" sz="2000" b="1" dirty="0">
                <a:latin typeface="Roman"/>
              </a:rPr>
              <a:t>Pattern Matching</a:t>
            </a:r>
            <a:r>
              <a:rPr lang="en-US" altLang="en-US" sz="2000" dirty="0">
                <a:latin typeface="Roman"/>
              </a:rPr>
              <a:t>: The system checks the text for suspicious keyword, phrases and patterns commonly found in fake news.</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Data Handling</a:t>
            </a:r>
            <a:r>
              <a:rPr lang="en-US" altLang="en-US" sz="2000" dirty="0">
                <a:latin typeface="Roman"/>
              </a:rPr>
              <a:t>: Predefined fake news patterns or keyword lists are used to compare with the input news content.</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Output</a:t>
            </a:r>
            <a:r>
              <a:rPr lang="en-US" altLang="en-US" sz="2000" dirty="0">
                <a:latin typeface="Roman"/>
              </a:rPr>
              <a:t>: System analyzes the text and displays whether the news is likely fake or genuine to the user.</a:t>
            </a:r>
          </a:p>
          <a:p>
            <a:pPr marL="0" indent="0">
              <a:buNone/>
            </a:pPr>
            <a:endParaRPr lang="en-US" sz="1200" dirty="0">
              <a:latin typeface="Roman"/>
            </a:endParaRP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242596" y="365126"/>
            <a:ext cx="11111204" cy="1084778"/>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2" name="Content Placeholder 1">
            <a:extLst>
              <a:ext uri="{FF2B5EF4-FFF2-40B4-BE49-F238E27FC236}">
                <a16:creationId xmlns:a16="http://schemas.microsoft.com/office/drawing/2014/main" id="{402B2F07-6D13-0095-B375-1DB85FA8EFA2}"/>
              </a:ext>
            </a:extLst>
          </p:cNvPr>
          <p:cNvSpPr>
            <a:spLocks noGrp="1" noChangeArrowheads="1"/>
          </p:cNvSpPr>
          <p:nvPr>
            <p:ph idx="1"/>
          </p:nvPr>
        </p:nvSpPr>
        <p:spPr bwMode="auto">
          <a:xfrm>
            <a:off x="613005" y="1218529"/>
            <a:ext cx="941740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News</a:t>
            </a:r>
            <a:r>
              <a:rPr kumimoji="0" lang="en-US" altLang="en-US" sz="2000" b="1" i="0" u="none" strike="noStrike" cap="none" normalizeH="0" baseline="0" dirty="0">
                <a:ln>
                  <a:noFill/>
                </a:ln>
                <a:solidFill>
                  <a:schemeClr val="tx1"/>
                </a:solidFill>
                <a:effectLst/>
                <a:latin typeface="Roman"/>
              </a:rPr>
              <a:t> Authentication Module:</a:t>
            </a:r>
            <a:r>
              <a:rPr kumimoji="0" lang="en-US" altLang="en-US" sz="2000" b="0" i="0" u="none" strike="noStrike" cap="none" normalizeH="0" baseline="0" dirty="0">
                <a:ln>
                  <a:noFill/>
                </a:ln>
                <a:solidFill>
                  <a:schemeClr val="tx1"/>
                </a:solidFill>
                <a:effectLst/>
                <a:latin typeface="Roman"/>
              </a:rPr>
              <a:t> Allows users to enter or paste text for verification.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Text</a:t>
            </a:r>
            <a:r>
              <a:rPr kumimoji="0" lang="en-US" altLang="en-US" sz="2000" b="1" i="0" u="none" strike="noStrike" cap="none" normalizeH="0" baseline="0" dirty="0">
                <a:ln>
                  <a:noFill/>
                </a:ln>
                <a:solidFill>
                  <a:schemeClr val="tx1"/>
                </a:solidFill>
                <a:effectLst/>
                <a:latin typeface="Roman"/>
              </a:rPr>
              <a:t> Analysis Module: </a:t>
            </a:r>
            <a:r>
              <a:rPr kumimoji="0" lang="en-US" altLang="en-US" sz="2000" i="0" u="none" strike="noStrike" cap="none" normalizeH="0" baseline="0" dirty="0">
                <a:ln>
                  <a:noFill/>
                </a:ln>
                <a:solidFill>
                  <a:schemeClr val="tx1"/>
                </a:solidFill>
                <a:effectLst/>
                <a:latin typeface="Roman"/>
              </a:rPr>
              <a:t>Analyzes  the news content and prepares the text for pattern matching.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Pattern matching Module:</a:t>
            </a:r>
            <a:r>
              <a:rPr kumimoji="0" lang="en-US" altLang="en-US" sz="2000" b="0" i="0" u="none" strike="noStrike" cap="none" normalizeH="0" baseline="0" dirty="0">
                <a:ln>
                  <a:noFill/>
                </a:ln>
                <a:solidFill>
                  <a:schemeClr val="tx1"/>
                </a:solidFill>
                <a:effectLst/>
                <a:latin typeface="Roman"/>
              </a:rPr>
              <a:t> </a:t>
            </a:r>
            <a:r>
              <a:rPr lang="en-US" altLang="en-US" sz="2000" dirty="0">
                <a:latin typeface="Roman"/>
              </a:rPr>
              <a:t>Compares the input text with predefined fake news keywords and patterns.</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Detection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Determines  whether the news is fake or genuine based on the matching results</a:t>
            </a:r>
            <a:r>
              <a:rPr lang="en-US" altLang="en-US" sz="2000" dirty="0">
                <a:latin typeface="Roman"/>
              </a:rPr>
              <a:t>.</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Result Display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Shows the analysis result to the user clearly.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Roman"/>
              </a:rPr>
              <a:t>Data </a:t>
            </a:r>
            <a:r>
              <a:rPr lang="en-US" altLang="en-US" sz="2000" b="1" dirty="0">
                <a:latin typeface="Roman"/>
              </a:rPr>
              <a:t>Handling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Manges the keyword list or pattern data used for fake news detection. </a:t>
            </a:r>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466531" y="365125"/>
            <a:ext cx="10887269"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3BACA4F1-9305-1BE8-3853-2C935D5C995A}"/>
              </a:ext>
            </a:extLst>
          </p:cNvPr>
          <p:cNvSpPr>
            <a:spLocks noGrp="1" noChangeArrowheads="1"/>
          </p:cNvSpPr>
          <p:nvPr>
            <p:ph idx="1"/>
          </p:nvPr>
        </p:nvSpPr>
        <p:spPr bwMode="auto">
          <a:xfrm>
            <a:off x="1991928" y="1333836"/>
            <a:ext cx="8486350" cy="450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develop a </a:t>
            </a:r>
            <a:r>
              <a:rPr kumimoji="0" lang="en-US" altLang="en-US" sz="2000" i="0" u="none" strike="noStrike" cap="none" normalizeH="0" baseline="0" dirty="0">
                <a:ln>
                  <a:noFill/>
                </a:ln>
                <a:solidFill>
                  <a:schemeClr val="tx1"/>
                </a:solidFill>
                <a:effectLst/>
                <a:latin typeface="Roman"/>
              </a:rPr>
              <a:t>web-based system </a:t>
            </a:r>
            <a:r>
              <a:rPr kumimoji="0" lang="en-US" altLang="en-US" sz="2000" b="0" i="0" u="none" strike="noStrike" cap="none" normalizeH="0" baseline="0" dirty="0">
                <a:ln>
                  <a:noFill/>
                </a:ln>
                <a:solidFill>
                  <a:schemeClr val="tx1"/>
                </a:solidFill>
                <a:effectLst/>
                <a:latin typeface="Roman"/>
              </a:rPr>
              <a:t>for </a:t>
            </a:r>
            <a:r>
              <a:rPr lang="en-US" altLang="en-US" sz="2000" dirty="0">
                <a:latin typeface="Roman"/>
              </a:rPr>
              <a:t>fake news detection</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b="0" dirty="0">
                <a:latin typeface="Roman"/>
              </a:rPr>
              <a:t>analyze news content using pattern matching techniques</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automatically detect whether the news is fake or genuine.</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implement </a:t>
            </a:r>
            <a:r>
              <a:rPr kumimoji="0" lang="en-US" altLang="en-US" sz="2000" i="0" u="none" strike="noStrike" cap="none" normalizeH="0" baseline="0" dirty="0">
                <a:ln>
                  <a:noFill/>
                </a:ln>
                <a:solidFill>
                  <a:schemeClr val="tx1"/>
                </a:solidFill>
                <a:effectLst/>
                <a:latin typeface="Roman"/>
              </a:rPr>
              <a:t>HTML, CSS, and JavaScript </a:t>
            </a:r>
            <a:r>
              <a:rPr kumimoji="0" lang="en-US" altLang="en-US" sz="2000" b="0" i="0" u="none" strike="noStrike" cap="none" normalizeH="0" baseline="0" dirty="0">
                <a:ln>
                  <a:noFill/>
                </a:ln>
                <a:solidFill>
                  <a:schemeClr val="tx1"/>
                </a:solidFill>
                <a:effectLst/>
                <a:latin typeface="Roman"/>
              </a:rPr>
              <a:t>concepts in a real project.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analyze text by checking suspicious keywords and patterns.</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provide quick and accurate results to the user.</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help reduce the spread of misinformation digital platforms.</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r>
              <a:rPr lang="en-IN" sz="2000" b="1" dirty="0"/>
              <a:t>CO1:</a:t>
            </a:r>
            <a:r>
              <a:rPr lang="en-IN" sz="2000" dirty="0"/>
              <a:t> Implemented HTML structure and CSS styling to design the web interface.</a:t>
            </a:r>
          </a:p>
          <a:p>
            <a:pPr marL="0" indent="0">
              <a:buNone/>
            </a:pPr>
            <a:endParaRPr lang="en-IN" sz="2000" dirty="0"/>
          </a:p>
          <a:p>
            <a:r>
              <a:rPr lang="en-IN" sz="2000" b="1" dirty="0"/>
              <a:t>CO2:</a:t>
            </a:r>
            <a:r>
              <a:rPr lang="en-IN" sz="2000" dirty="0"/>
              <a:t> Used HTML forms, input fields, and tables for user interaction and data input.</a:t>
            </a:r>
          </a:p>
          <a:p>
            <a:pPr marL="0" indent="0">
              <a:buNone/>
            </a:pPr>
            <a:endParaRPr lang="en-IN" sz="2000" dirty="0"/>
          </a:p>
          <a:p>
            <a:r>
              <a:rPr lang="en-IN" sz="2000" b="1" dirty="0"/>
              <a:t>CO3:</a:t>
            </a:r>
            <a:r>
              <a:rPr lang="en-IN" sz="2000" dirty="0"/>
              <a:t> Applied JavaScript fundamentals such as variables, functions, conditions, arrays, and objects.</a:t>
            </a:r>
          </a:p>
          <a:p>
            <a:pPr marL="0" indent="0">
              <a:buNone/>
            </a:pPr>
            <a:endParaRPr lang="en-IN" sz="2000" dirty="0"/>
          </a:p>
          <a:p>
            <a:r>
              <a:rPr lang="en-IN" sz="2000" b="1" dirty="0"/>
              <a:t>CO4:</a:t>
            </a:r>
            <a:r>
              <a:rPr lang="en-IN" sz="2000" dirty="0"/>
              <a:t> Implemented DOM manipulation, event handling, and local storage for storing user data.</a:t>
            </a:r>
          </a:p>
          <a:p>
            <a:pPr marL="0" indent="0">
              <a:buNone/>
            </a:pPr>
            <a:endParaRPr lang="en-IN" sz="2000" dirty="0"/>
          </a:p>
          <a:p>
            <a:r>
              <a:rPr lang="en-IN" sz="2000" b="1" dirty="0"/>
              <a:t>CO5:</a:t>
            </a:r>
            <a:r>
              <a:rPr lang="en-IN" sz="2000" dirty="0"/>
              <a:t> Developed dynamic web pages and form validation using JavaScript for better interactivity.</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90694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r>
              <a:rPr lang="en-US" sz="2000" b="1" dirty="0">
                <a:latin typeface="Roman"/>
              </a:rPr>
              <a:t>CO1:</a:t>
            </a:r>
            <a:r>
              <a:rPr lang="en-US" sz="2000" dirty="0">
                <a:latin typeface="Roman"/>
              </a:rPr>
              <a:t> Applied algorithm analysis concepts for processing and comparing price data.</a:t>
            </a:r>
          </a:p>
          <a:p>
            <a:pPr marL="0" indent="0">
              <a:buNone/>
            </a:pPr>
            <a:endParaRPr lang="en-US" sz="2000" dirty="0">
              <a:latin typeface="Roman"/>
            </a:endParaRPr>
          </a:p>
          <a:p>
            <a:r>
              <a:rPr lang="en-US" sz="2000" b="1" dirty="0">
                <a:latin typeface="Roman"/>
              </a:rPr>
              <a:t>CO2:</a:t>
            </a:r>
            <a:r>
              <a:rPr lang="en-US" sz="2000" dirty="0">
                <a:latin typeface="Roman"/>
              </a:rPr>
              <a:t> Used searching techniques to find dish prices from competitor data.</a:t>
            </a:r>
          </a:p>
          <a:p>
            <a:pPr marL="0" indent="0">
              <a:buNone/>
            </a:pPr>
            <a:endParaRPr lang="en-US" sz="2000" dirty="0">
              <a:latin typeface="Roman"/>
            </a:endParaRPr>
          </a:p>
          <a:p>
            <a:r>
              <a:rPr lang="en-US" sz="2000" b="1" dirty="0">
                <a:latin typeface="Roman"/>
              </a:rPr>
              <a:t>CO3:</a:t>
            </a:r>
            <a:r>
              <a:rPr lang="en-US" sz="2000" dirty="0">
                <a:latin typeface="Roman"/>
              </a:rPr>
              <a:t> Implemented arrays and data structures to store competitor price information.</a:t>
            </a:r>
          </a:p>
          <a:p>
            <a:pPr marL="0" indent="0">
              <a:buNone/>
            </a:pPr>
            <a:endParaRPr lang="en-US" sz="2000" dirty="0">
              <a:latin typeface="Roman"/>
            </a:endParaRPr>
          </a:p>
          <a:p>
            <a:r>
              <a:rPr lang="en-US" sz="2000" b="1" dirty="0">
                <a:latin typeface="Roman"/>
              </a:rPr>
              <a:t>CO4:</a:t>
            </a:r>
            <a:r>
              <a:rPr lang="en-US" sz="2000" dirty="0">
                <a:latin typeface="Roman"/>
              </a:rPr>
              <a:t> Used basic algorithm logic to calculate average prices and compare values.</a:t>
            </a:r>
          </a:p>
          <a:p>
            <a:pPr marL="0" indent="0">
              <a:buNone/>
            </a:pPr>
            <a:endParaRPr lang="en-US" sz="2000" dirty="0">
              <a:latin typeface="Roman"/>
            </a:endParaRPr>
          </a:p>
          <a:p>
            <a:r>
              <a:rPr lang="en-US" sz="2000" b="1" dirty="0">
                <a:latin typeface="Roman"/>
              </a:rPr>
              <a:t>CO5:</a:t>
            </a:r>
            <a:r>
              <a:rPr lang="en-US" sz="2000" dirty="0">
                <a:latin typeface="Roman"/>
              </a:rPr>
              <a:t> Demonstrated problem-solving using data structures and algorithms in price analysis.</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4436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679510" y="-242595"/>
            <a:ext cx="9674290" cy="1501215"/>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7" name="Picture 6">
            <a:extLst>
              <a:ext uri="{FF2B5EF4-FFF2-40B4-BE49-F238E27FC236}">
                <a16:creationId xmlns:a16="http://schemas.microsoft.com/office/drawing/2014/main" id="{3D291D0C-7CB4-6F2C-7A46-E4538D3A2AED}"/>
              </a:ext>
            </a:extLst>
          </p:cNvPr>
          <p:cNvPicPr>
            <a:picLocks noChangeAspect="1"/>
          </p:cNvPicPr>
          <p:nvPr/>
        </p:nvPicPr>
        <p:blipFill>
          <a:blip r:embed="rId2"/>
          <a:stretch>
            <a:fillRect/>
          </a:stretch>
        </p:blipFill>
        <p:spPr>
          <a:xfrm>
            <a:off x="590939" y="820081"/>
            <a:ext cx="4114800" cy="2424567"/>
          </a:xfrm>
          <a:prstGeom prst="rect">
            <a:avLst/>
          </a:prstGeom>
        </p:spPr>
      </p:pic>
      <p:pic>
        <p:nvPicPr>
          <p:cNvPr id="9" name="Picture 8">
            <a:extLst>
              <a:ext uri="{FF2B5EF4-FFF2-40B4-BE49-F238E27FC236}">
                <a16:creationId xmlns:a16="http://schemas.microsoft.com/office/drawing/2014/main" id="{220A6A76-44FA-AA76-E038-F378C058480F}"/>
              </a:ext>
            </a:extLst>
          </p:cNvPr>
          <p:cNvPicPr>
            <a:picLocks noChangeAspect="1"/>
          </p:cNvPicPr>
          <p:nvPr/>
        </p:nvPicPr>
        <p:blipFill>
          <a:blip r:embed="rId3"/>
          <a:stretch>
            <a:fillRect/>
          </a:stretch>
        </p:blipFill>
        <p:spPr>
          <a:xfrm>
            <a:off x="838200" y="3750094"/>
            <a:ext cx="3620278" cy="2881039"/>
          </a:xfrm>
          <a:prstGeom prst="rect">
            <a:avLst/>
          </a:prstGeom>
        </p:spPr>
      </p:pic>
      <p:pic>
        <p:nvPicPr>
          <p:cNvPr id="11" name="Picture 10">
            <a:extLst>
              <a:ext uri="{FF2B5EF4-FFF2-40B4-BE49-F238E27FC236}">
                <a16:creationId xmlns:a16="http://schemas.microsoft.com/office/drawing/2014/main" id="{8E54B5B9-4E13-6D9D-698A-511E31CF3FFF}"/>
              </a:ext>
            </a:extLst>
          </p:cNvPr>
          <p:cNvPicPr>
            <a:picLocks noChangeAspect="1"/>
          </p:cNvPicPr>
          <p:nvPr/>
        </p:nvPicPr>
        <p:blipFill>
          <a:blip r:embed="rId4"/>
          <a:stretch>
            <a:fillRect/>
          </a:stretch>
        </p:blipFill>
        <p:spPr>
          <a:xfrm>
            <a:off x="5495358" y="859794"/>
            <a:ext cx="3620278" cy="2619313"/>
          </a:xfrm>
          <a:prstGeom prst="rect">
            <a:avLst/>
          </a:prstGeom>
        </p:spPr>
      </p:pic>
      <p:pic>
        <p:nvPicPr>
          <p:cNvPr id="13" name="Picture 12">
            <a:extLst>
              <a:ext uri="{FF2B5EF4-FFF2-40B4-BE49-F238E27FC236}">
                <a16:creationId xmlns:a16="http://schemas.microsoft.com/office/drawing/2014/main" id="{0425C65C-3A4D-DDA3-7AC4-1958B8CA4281}"/>
              </a:ext>
            </a:extLst>
          </p:cNvPr>
          <p:cNvPicPr>
            <a:picLocks noChangeAspect="1"/>
          </p:cNvPicPr>
          <p:nvPr/>
        </p:nvPicPr>
        <p:blipFill>
          <a:blip r:embed="rId5"/>
          <a:stretch>
            <a:fillRect/>
          </a:stretch>
        </p:blipFill>
        <p:spPr>
          <a:xfrm>
            <a:off x="5355771" y="3706946"/>
            <a:ext cx="4030825" cy="270773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2" name="Content Placeholder 1">
            <a:extLst>
              <a:ext uri="{FF2B5EF4-FFF2-40B4-BE49-F238E27FC236}">
                <a16:creationId xmlns:a16="http://schemas.microsoft.com/office/drawing/2014/main" id="{7B329739-E6FE-2CF4-910C-609FB16787FE}"/>
              </a:ext>
            </a:extLst>
          </p:cNvPr>
          <p:cNvSpPr>
            <a:spLocks noGrp="1" noChangeArrowheads="1"/>
          </p:cNvSpPr>
          <p:nvPr>
            <p:ph idx="1"/>
          </p:nvPr>
        </p:nvSpPr>
        <p:spPr bwMode="auto">
          <a:xfrm>
            <a:off x="300234" y="1742369"/>
            <a:ext cx="1168027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Fake News Detection Using Pattern Matching </a:t>
            </a:r>
            <a:r>
              <a:rPr kumimoji="0" lang="en-US" altLang="en-US" sz="2000" i="0" u="none" strike="noStrike" cap="none" normalizeH="0" baseline="0" dirty="0">
                <a:ln>
                  <a:noFill/>
                </a:ln>
                <a:solidFill>
                  <a:schemeClr val="tx1"/>
                </a:solidFill>
                <a:effectLst/>
                <a:latin typeface="Roman"/>
              </a:rPr>
              <a:t> </a:t>
            </a:r>
            <a:r>
              <a:rPr kumimoji="0" lang="en-US" altLang="en-US" sz="2000" b="0" i="0" u="none" strike="noStrike" cap="none" normalizeH="0" baseline="0" dirty="0">
                <a:ln>
                  <a:noFill/>
                </a:ln>
                <a:solidFill>
                  <a:schemeClr val="tx1"/>
                </a:solidFill>
                <a:effectLst/>
                <a:latin typeface="Roman"/>
              </a:rPr>
              <a:t>helps analyze and verify news content to identify fake or misleading information.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system </a:t>
            </a:r>
            <a:r>
              <a:rPr lang="en-US" altLang="en-US" sz="2000" b="0" dirty="0">
                <a:latin typeface="Roman"/>
              </a:rPr>
              <a:t>analyzes the </a:t>
            </a:r>
            <a:r>
              <a:rPr lang="en-US" altLang="en-US" sz="2000" dirty="0">
                <a:latin typeface="Roman"/>
              </a:rPr>
              <a:t>news text and checks for suspicious keywords and patterns commonly found in fake news.</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automatically determines whether the news is </a:t>
            </a:r>
            <a:r>
              <a:rPr kumimoji="0" lang="en-US" altLang="en-US" sz="2000" b="0" i="0" u="none" strike="noStrike" cap="none" normalizeH="0" baseline="0" dirty="0" err="1">
                <a:ln>
                  <a:noFill/>
                </a:ln>
                <a:solidFill>
                  <a:schemeClr val="tx1"/>
                </a:solidFill>
                <a:effectLst/>
                <a:latin typeface="Roman"/>
              </a:rPr>
              <a:t>likelyfake</a:t>
            </a:r>
            <a:r>
              <a:rPr kumimoji="0" lang="en-US" altLang="en-US" sz="2000" b="0" i="0" u="none" strike="noStrike" cap="none" normalizeH="0" baseline="0" dirty="0">
                <a:ln>
                  <a:noFill/>
                </a:ln>
                <a:solidFill>
                  <a:schemeClr val="tx1"/>
                </a:solidFill>
                <a:effectLst/>
                <a:latin typeface="Roman"/>
              </a:rPr>
              <a:t> or </a:t>
            </a:r>
            <a:r>
              <a:rPr kumimoji="0" lang="en-US" altLang="en-US" sz="2000" b="0" i="0" u="none" strike="noStrike" cap="none" normalizeH="0" baseline="0" dirty="0" err="1">
                <a:ln>
                  <a:noFill/>
                </a:ln>
                <a:solidFill>
                  <a:schemeClr val="tx1"/>
                </a:solidFill>
                <a:effectLst/>
                <a:latin typeface="Roman"/>
              </a:rPr>
              <a:t>geuine</a:t>
            </a:r>
            <a:r>
              <a:rPr kumimoji="0" lang="en-US" altLang="en-US" sz="2000" b="0" i="0" u="none" strike="noStrike" cap="none" normalizeH="0" baseline="0" dirty="0">
                <a:ln>
                  <a:noFill/>
                </a:ln>
                <a:solidFill>
                  <a:schemeClr val="tx1"/>
                </a:solidFill>
                <a:effectLst/>
                <a:latin typeface="Roman"/>
              </a:rPr>
              <a:t>.</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project demonstrates the use of </a:t>
            </a:r>
            <a:r>
              <a:rPr kumimoji="0" lang="en-US" altLang="en-US" sz="2000" i="0" u="none" strike="noStrike" cap="none" normalizeH="0" baseline="0" dirty="0">
                <a:ln>
                  <a:noFill/>
                </a:ln>
                <a:solidFill>
                  <a:schemeClr val="tx1"/>
                </a:solidFill>
                <a:effectLst/>
                <a:latin typeface="Roman"/>
              </a:rPr>
              <a:t>HTML, CSS, JavaScript, and basic DSA concepts.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provides a </a:t>
            </a:r>
            <a:r>
              <a:rPr kumimoji="0" lang="en-US" altLang="en-US" sz="2000" i="0" u="none" strike="noStrike" cap="none" normalizeH="0" baseline="0" dirty="0">
                <a:ln>
                  <a:noFill/>
                </a:ln>
                <a:solidFill>
                  <a:schemeClr val="tx1"/>
                </a:solidFill>
                <a:effectLst/>
                <a:latin typeface="Roman"/>
              </a:rPr>
              <a:t>simple and user-friendly interface </a:t>
            </a:r>
            <a:r>
              <a:rPr kumimoji="0" lang="en-US" altLang="en-US" sz="2000" b="0" i="0" u="none" strike="noStrike" cap="none" normalizeH="0" baseline="0" dirty="0">
                <a:ln>
                  <a:noFill/>
                </a:ln>
                <a:solidFill>
                  <a:schemeClr val="tx1"/>
                </a:solidFill>
                <a:effectLst/>
                <a:latin typeface="Roman"/>
              </a:rPr>
              <a:t>for verifying online news content.</a:t>
            </a:r>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3275044" y="392642"/>
            <a:ext cx="7406951" cy="1325563"/>
          </a:xfrm>
        </p:spPr>
        <p:txBody>
          <a:bodyPr/>
          <a:lstStyle/>
          <a:p>
            <a:r>
              <a:rPr lang="en-US" dirty="0"/>
              <a:t>Geo- Tag Photos</a:t>
            </a:r>
          </a:p>
        </p:txBody>
      </p:sp>
      <p:pic>
        <p:nvPicPr>
          <p:cNvPr id="8" name="Content Placeholder 7">
            <a:extLst>
              <a:ext uri="{FF2B5EF4-FFF2-40B4-BE49-F238E27FC236}">
                <a16:creationId xmlns:a16="http://schemas.microsoft.com/office/drawing/2014/main" id="{19C48296-AAB4-42EE-EB44-5D75B4A94C80}"/>
              </a:ext>
            </a:extLst>
          </p:cNvPr>
          <p:cNvPicPr>
            <a:picLocks noGrp="1" noChangeAspect="1"/>
          </p:cNvPicPr>
          <p:nvPr>
            <p:ph idx="1"/>
          </p:nvPr>
        </p:nvPicPr>
        <p:blipFill>
          <a:blip r:embed="rId2"/>
          <a:stretch>
            <a:fillRect/>
          </a:stretch>
        </p:blipFill>
        <p:spPr>
          <a:xfrm>
            <a:off x="1769913" y="1914622"/>
            <a:ext cx="2526835" cy="3178821"/>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3" name="AutoShape 2">
            <a:extLst>
              <a:ext uri="{FF2B5EF4-FFF2-40B4-BE49-F238E27FC236}">
                <a16:creationId xmlns:a16="http://schemas.microsoft.com/office/drawing/2014/main" id="{0C7ABDD1-162F-562C-FF7F-B4FF46DD9E87}"/>
              </a:ext>
            </a:extLst>
          </p:cNvPr>
          <p:cNvSpPr>
            <a:spLocks noChangeAspect="1" noChangeArrowheads="1"/>
          </p:cNvSpPr>
          <p:nvPr/>
        </p:nvSpPr>
        <p:spPr bwMode="auto">
          <a:xfrm>
            <a:off x="5943599" y="3276599"/>
            <a:ext cx="3331029" cy="33310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7C8CB5F9-572D-519E-D99A-17D603EDE883}"/>
              </a:ext>
            </a:extLst>
          </p:cNvPr>
          <p:cNvPicPr>
            <a:picLocks noChangeAspect="1"/>
          </p:cNvPicPr>
          <p:nvPr/>
        </p:nvPicPr>
        <p:blipFill>
          <a:blip r:embed="rId3"/>
          <a:stretch>
            <a:fillRect/>
          </a:stretch>
        </p:blipFill>
        <p:spPr>
          <a:xfrm>
            <a:off x="5421591" y="2043191"/>
            <a:ext cx="4375043" cy="2466816"/>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4047</TotalTime>
  <Words>930</Words>
  <Application>Microsoft Office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Roman</vt:lpstr>
      <vt:lpstr>Office Theme</vt:lpstr>
      <vt:lpstr>Custom Design</vt:lpstr>
      <vt:lpstr>Title : Fake News Detection Using Pattern Matching</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ananyadaivapu2008@outlook.com</cp:lastModifiedBy>
  <cp:revision>61</cp:revision>
  <dcterms:created xsi:type="dcterms:W3CDTF">2022-05-20T10:20:31Z</dcterms:created>
  <dcterms:modified xsi:type="dcterms:W3CDTF">2026-03-12T06:33:48Z</dcterms:modified>
</cp:coreProperties>
</file>